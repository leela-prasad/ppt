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65" r:id="rId3"/>
    <p:sldId id="257" r:id="rId4"/>
    <p:sldId id="263" r:id="rId5"/>
    <p:sldId id="258" r:id="rId6"/>
    <p:sldId id="261" r:id="rId7"/>
    <p:sldId id="264" r:id="rId8"/>
    <p:sldId id="259" r:id="rId9"/>
    <p:sldId id="260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Portfolio investment by sectors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Schools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Q3 2017</c:v>
                </c:pt>
                <c:pt idx="1">
                  <c:v>Q4 2017</c:v>
                </c:pt>
              </c:strCache>
            </c:strRef>
          </c:cat>
          <c:val>
            <c:numRef>
              <c:f>Sheet1!$B$2:$C$2</c:f>
              <c:numCache>
                <c:formatCode>General</c:formatCode>
                <c:ptCount val="2"/>
                <c:pt idx="0">
                  <c:v>85</c:v>
                </c:pt>
                <c:pt idx="1">
                  <c:v>105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C5-4B8C-A487-517605053FA5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Roads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Q3 2017</c:v>
                </c:pt>
                <c:pt idx="1">
                  <c:v>Q4 2017</c:v>
                </c:pt>
              </c:strCache>
            </c:strRef>
          </c:cat>
          <c:val>
            <c:numRef>
              <c:f>Sheet1!$B$3:$C$3</c:f>
              <c:numCache>
                <c:formatCode>General</c:formatCode>
                <c:ptCount val="2"/>
                <c:pt idx="0">
                  <c:v>100</c:v>
                </c:pt>
                <c:pt idx="1">
                  <c:v>135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C5-4B8C-A487-517605053FA5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Sovereign debt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Q3 2017</c:v>
                </c:pt>
                <c:pt idx="1">
                  <c:v>Q4 2017</c:v>
                </c:pt>
              </c:strCache>
            </c:strRef>
          </c:cat>
          <c:val>
            <c:numRef>
              <c:f>Sheet1!$B$4:$C$4</c:f>
              <c:numCache>
                <c:formatCode>General</c:formatCode>
                <c:ptCount val="2"/>
                <c:pt idx="0">
                  <c:v>90</c:v>
                </c:pt>
                <c:pt idx="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C5-4B8C-A487-517605053FA5}"/>
            </c:ext>
          </c:extLst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Commercial Real Estate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Q3 2017</c:v>
                </c:pt>
                <c:pt idx="1">
                  <c:v>Q4 2017</c:v>
                </c:pt>
              </c:strCache>
            </c:strRef>
          </c:cat>
          <c:val>
            <c:numRef>
              <c:f>Sheet1!$B$5:$C$5</c:f>
              <c:numCache>
                <c:formatCode>General</c:formatCode>
                <c:ptCount val="2"/>
                <c:pt idx="0">
                  <c:v>120</c:v>
                </c:pt>
                <c:pt idx="1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C5-4B8C-A487-517605053FA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687225312"/>
        <c:axId val="1687220032"/>
      </c:barChart>
      <c:catAx>
        <c:axId val="1687225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220032"/>
        <c:crosses val="autoZero"/>
        <c:auto val="1"/>
        <c:lblAlgn val="ctr"/>
        <c:lblOffset val="100"/>
        <c:noMultiLvlLbl val="0"/>
      </c:catAx>
      <c:valAx>
        <c:axId val="16872200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USD</a:t>
                </a:r>
                <a:r>
                  <a:rPr lang="en-US" baseline="0" dirty="0"/>
                  <a:t> </a:t>
                </a:r>
                <a:r>
                  <a:rPr lang="en-US" baseline="0" dirty="0" err="1"/>
                  <a:t>mn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225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Interest yield</a:t>
            </a:r>
            <a:r>
              <a:rPr lang="en-IN" b="1" baseline="0" dirty="0"/>
              <a:t> by sectors</a:t>
            </a:r>
            <a:endParaRPr lang="en-IN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Schools</c:v>
                </c:pt>
                <c:pt idx="1">
                  <c:v>Roads</c:v>
                </c:pt>
                <c:pt idx="2">
                  <c:v>Sovereign debt</c:v>
                </c:pt>
                <c:pt idx="3">
                  <c:v>Commercial Real Estate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0.04</c:v>
                </c:pt>
                <c:pt idx="1">
                  <c:v>5.7000000000000002E-2</c:v>
                </c:pt>
                <c:pt idx="2">
                  <c:v>0.02</c:v>
                </c:pt>
                <c:pt idx="3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88-46D1-8F6B-715589CC16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2017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Schools</c:v>
                </c:pt>
                <c:pt idx="1">
                  <c:v>Roads</c:v>
                </c:pt>
                <c:pt idx="2">
                  <c:v>Sovereign debt</c:v>
                </c:pt>
                <c:pt idx="3">
                  <c:v>Commercial Real Estate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4.3999999999999997E-2</c:v>
                </c:pt>
                <c:pt idx="1">
                  <c:v>6.5000000000000002E-2</c:v>
                </c:pt>
                <c:pt idx="2">
                  <c:v>2.5000000000000001E-2</c:v>
                </c:pt>
                <c:pt idx="3">
                  <c:v>3.4000000000000002E-2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88-46D1-8F6B-715589CC16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47828655"/>
        <c:axId val="1047821935"/>
      </c:barChart>
      <c:catAx>
        <c:axId val="10478286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821935"/>
        <c:crosses val="autoZero"/>
        <c:auto val="1"/>
        <c:lblAlgn val="ctr"/>
        <c:lblOffset val="100"/>
        <c:noMultiLvlLbl val="0"/>
      </c:catAx>
      <c:valAx>
        <c:axId val="1047821935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78286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Portfolio</a:t>
            </a:r>
            <a:r>
              <a:rPr lang="en-US" b="1" baseline="0" dirty="0"/>
              <a:t> risk vs return analysis</a:t>
            </a:r>
            <a:endParaRPr lang="en-US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accent1">
                <a:alpha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240801A3-FEF6-45EF-8A12-0832078F32E9}" type="CELLRANGE">
                      <a:rPr lang="en-US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4-19D0-41D2-A81E-B4030AF380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CF098BE-0343-487B-8603-08E21909314C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19D0-41D2-A81E-B4030AF3803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F2E042E-15F5-40D7-AFB9-1CAA09967CF6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19D0-41D2-A81E-B4030AF3803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B41B0FAC-DB0A-4BD4-99B2-7F7FE690651B}" type="CELLRANGE">
                      <a:rPr lang="en-IN"/>
                      <a:pPr/>
                      <a:t>[CELLRANGE]</a:t>
                    </a:fld>
                    <a:endParaRPr lang="en-IN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19D0-41D2-A81E-B4030AF380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Sheet1!$A$2:$A$5</c:f>
              <c:numCache>
                <c:formatCode>0.0%</c:formatCode>
                <c:ptCount val="4"/>
                <c:pt idx="0">
                  <c:v>4.3999999999999997E-2</c:v>
                </c:pt>
                <c:pt idx="1">
                  <c:v>6.5000000000000002E-2</c:v>
                </c:pt>
                <c:pt idx="2">
                  <c:v>2.5000000000000001E-2</c:v>
                </c:pt>
                <c:pt idx="3">
                  <c:v>3.4000000000000002E-2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3</c:v>
                </c:pt>
                <c:pt idx="2">
                  <c:v>1</c:v>
                </c:pt>
                <c:pt idx="3">
                  <c:v>4</c:v>
                </c:pt>
              </c:numCache>
            </c:numRef>
          </c:yVal>
          <c:bubbleSize>
            <c:numRef>
              <c:f>Sheet1!$C$2:$C$5</c:f>
              <c:numCache>
                <c:formatCode>General</c:formatCode>
                <c:ptCount val="4"/>
                <c:pt idx="0">
                  <c:v>105</c:v>
                </c:pt>
                <c:pt idx="1">
                  <c:v>135</c:v>
                </c:pt>
                <c:pt idx="2">
                  <c:v>100</c:v>
                </c:pt>
                <c:pt idx="3">
                  <c:v>125</c:v>
                </c:pt>
              </c:numCache>
            </c:numRef>
          </c:bubbleSize>
          <c:bubble3D val="0"/>
          <c:extLst>
            <c:ext xmlns:c15="http://schemas.microsoft.com/office/drawing/2012/chart" uri="{02D57815-91ED-43cb-92C2-25804820EDAC}">
              <c15:datalabelsRange>
                <c15:f>Sheet1!$D$2:$D$5</c15:f>
                <c15:dlblRangeCache>
                  <c:ptCount val="4"/>
                  <c:pt idx="0">
                    <c:v>Schools</c:v>
                  </c:pt>
                  <c:pt idx="1">
                    <c:v>Roads</c:v>
                  </c:pt>
                  <c:pt idx="2">
                    <c:v>Sovereign debt</c:v>
                  </c:pt>
                  <c:pt idx="3">
                    <c:v>Commercial Real Estate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19D0-41D2-A81E-B4030AF3803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bubbleScale val="100"/>
        <c:showNegBubbles val="0"/>
        <c:axId val="1687232992"/>
        <c:axId val="1687233472"/>
      </c:bubbleChart>
      <c:valAx>
        <c:axId val="16872329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Interest</a:t>
                </a:r>
                <a:r>
                  <a:rPr lang="en-IN" baseline="0" dirty="0"/>
                  <a:t> yield %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.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233472"/>
        <c:crosses val="autoZero"/>
        <c:crossBetween val="midCat"/>
      </c:valAx>
      <c:valAx>
        <c:axId val="168723347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Risk</a:t>
                </a:r>
                <a:r>
                  <a:rPr lang="en-IN" baseline="0" dirty="0"/>
                  <a:t> Measure 1-10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723299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Portfolio market price % of book value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2017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Schools</c:v>
                </c:pt>
                <c:pt idx="1">
                  <c:v>Roads</c:v>
                </c:pt>
                <c:pt idx="2">
                  <c:v>Sovereign debt</c:v>
                </c:pt>
                <c:pt idx="3">
                  <c:v>Commercial Real Estate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0.97</c:v>
                </c:pt>
                <c:pt idx="1">
                  <c:v>0.89</c:v>
                </c:pt>
                <c:pt idx="2">
                  <c:v>0.95</c:v>
                </c:pt>
                <c:pt idx="3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AF-431F-AE43-6B9D3DAF63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Q4 2017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Schools</c:v>
                </c:pt>
                <c:pt idx="1">
                  <c:v>Roads</c:v>
                </c:pt>
                <c:pt idx="2">
                  <c:v>Sovereign debt</c:v>
                </c:pt>
                <c:pt idx="3">
                  <c:v>Commercial Real Estate</c:v>
                </c:pt>
              </c:strCache>
            </c:strRef>
          </c:cat>
          <c:val>
            <c:numRef>
              <c:f>Sheet1!$C$2:$C$5</c:f>
              <c:numCache>
                <c:formatCode>0.0%</c:formatCode>
                <c:ptCount val="4"/>
                <c:pt idx="0">
                  <c:v>0.98699999999999999</c:v>
                </c:pt>
                <c:pt idx="1">
                  <c:v>0.98799999999999999</c:v>
                </c:pt>
                <c:pt idx="2">
                  <c:v>1.0189999999999999</c:v>
                </c:pt>
                <c:pt idx="3">
                  <c:v>0.99399999999999999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AF-431F-AE43-6B9D3DAF63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453670864"/>
        <c:axId val="453654544"/>
      </c:barChart>
      <c:catAx>
        <c:axId val="453670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654544"/>
        <c:crosses val="autoZero"/>
        <c:auto val="1"/>
        <c:lblAlgn val="ctr"/>
        <c:lblOffset val="100"/>
        <c:noMultiLvlLbl val="0"/>
      </c:catAx>
      <c:valAx>
        <c:axId val="453654544"/>
        <c:scaling>
          <c:orientation val="minMax"/>
        </c:scaling>
        <c:delete val="0"/>
        <c:axPos val="b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670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Q3 Portfolio risk composition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Q3 2017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39C-4763-9139-4087FA3E14C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8F9-43B3-97F8-53EA10CDE69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39C-4763-9139-4087FA3E14C8}"/>
              </c:ext>
            </c:extLst>
          </c:dPt>
          <c:dLbls>
            <c:dLbl>
              <c:idx val="1"/>
              <c:layout>
                <c:manualLayout>
                  <c:x val="-5.1430413435729801E-3"/>
                  <c:y val="-2.5081237535908723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8F9-43B3-97F8-53EA10CDE69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Low risk investments</c:v>
                </c:pt>
                <c:pt idx="1">
                  <c:v>Medium risk investments</c:v>
                </c:pt>
                <c:pt idx="2">
                  <c:v>High risk investments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</c:v>
                </c:pt>
                <c:pt idx="1">
                  <c:v>90</c:v>
                </c:pt>
                <c:pt idx="2">
                  <c:v>165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F9-43B3-97F8-53EA10CDE6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Q4 Portfolio risk composition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Q4 2017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C5-4895-95E9-49E973DD2B6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BF-4D5B-A68E-8DA04DD5577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14BF-4D5B-A68E-8DA04DD5577A}"/>
              </c:ext>
            </c:extLst>
          </c:dPt>
          <c:dLbls>
            <c:dLbl>
              <c:idx val="1"/>
              <c:layout>
                <c:manualLayout>
                  <c:x val="1.0289389067524116E-2"/>
                  <c:y val="-3.009748504309035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BF-4D5B-A68E-8DA04DD5577A}"/>
                </c:ext>
              </c:extLst>
            </c:dLbl>
            <c:dLbl>
              <c:idx val="2"/>
              <c:layout>
                <c:manualLayout>
                  <c:x val="-1.2861736334405145E-2"/>
                  <c:y val="5.0162475071817259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BF-4D5B-A68E-8DA04DD5577A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Sheet1!$A$2:$A$4</c:f>
              <c:strCache>
                <c:ptCount val="3"/>
                <c:pt idx="0">
                  <c:v>Low risk investments</c:v>
                </c:pt>
                <c:pt idx="1">
                  <c:v>Medium risk investments</c:v>
                </c:pt>
                <c:pt idx="2">
                  <c:v>High risk investments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212</c:v>
                </c:pt>
                <c:pt idx="1">
                  <c:v>142</c:v>
                </c:pt>
                <c:pt idx="2">
                  <c:v>111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BF-4D5B-A68E-8DA04DD557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Sheet1!$A$2:$A$7</cx:f>
        <cx:lvl ptCount="6">
          <cx:pt idx="0">Q3 2017</cx:pt>
          <cx:pt idx="1">Real Estate</cx:pt>
          <cx:pt idx="2">Sovereign debt</cx:pt>
          <cx:pt idx="3">Schools</cx:pt>
          <cx:pt idx="4">Roads</cx:pt>
          <cx:pt idx="5">Q4 2017</cx:pt>
        </cx:lvl>
      </cx:strDim>
      <cx:numDim type="val">
        <cx:f>Sheet1!$B$2:$B$7</cx:f>
        <cx:lvl ptCount="6" formatCode="General">
          <cx:pt idx="0">395</cx:pt>
          <cx:pt idx="1">5</cx:pt>
          <cx:pt idx="2">10</cx:pt>
          <cx:pt idx="3">20</cx:pt>
          <cx:pt idx="4">35</cx:pt>
          <cx:pt idx="5">465</cx:pt>
        </cx:lvl>
      </cx:numDim>
    </cx:data>
  </cx:chartData>
  <cx:chart>
    <cx:title pos="t" align="ctr" overlay="0">
      <cx:tx>
        <cx:txData>
          <cx:v>Portfolio increase QoQ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862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0F0502020204030204"/>
            </a:rPr>
            <a:t>Portfolio increase QoQ</a:t>
          </a:r>
        </a:p>
      </cx:txPr>
    </cx:title>
    <cx:plotArea>
      <cx:plotAreaRegion>
        <cx:series layoutId="waterfall" uniqueId="{3FC304C6-1459-426F-B274-E47BCFD85AF6}">
          <cx:tx>
            <cx:txData>
              <cx:f>Sheet1!$B$1</cx:f>
              <cx:v>Series1</cx:v>
            </cx:txData>
          </cx:tx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5"/>
            </cx:subtotals>
          </cx:layoutPr>
        </cx:series>
      </cx:plotAreaRegion>
      <cx:axis id="0">
        <cx:catScaling gapWidth="0.5"/>
        <cx:tickLabels/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en-US" sz="1197" b="0" i="0" u="none" strike="noStrike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/>
                  </a:rPr>
                  <a:t>USD </a:t>
                </a:r>
                <a:r>
                  <a:rPr lang="en-US" sz="1197" b="0" i="0" u="none" strike="noStrike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Calibri" panose="020F0502020204030204"/>
                  </a:rPr>
                  <a:t>mn</a:t>
                </a:r>
                <a:endParaRPr lang="en-US" sz="1197" b="0" i="0" u="none" strike="noStrike" baseline="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Calibri" panose="020F0502020204030204"/>
                </a:endParaRPr>
              </a:p>
            </cx:rich>
          </cx:tx>
        </cx:title>
        <cx:tickLabels/>
      </cx:axis>
    </cx:plotArea>
    <cx:legend pos="t" align="ctr" overlay="0"/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6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>
          <a:alpha val="75000"/>
        </a:schemeClr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918801-8523-4B41-B467-584F1DFFF87F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3425C95C-C9E9-4EED-96E1-552BED1D71B5}">
      <dgm:prSet phldrT="[Text]" phldr="0"/>
      <dgm:spPr/>
      <dgm:t>
        <a:bodyPr/>
        <a:lstStyle/>
        <a:p>
          <a:r>
            <a:rPr lang="en-US" b="1" dirty="0"/>
            <a:t>Investment Philosophy</a:t>
          </a:r>
          <a:endParaRPr lang="en-IN" b="1" dirty="0"/>
        </a:p>
      </dgm:t>
    </dgm:pt>
    <dgm:pt modelId="{9FBAB1A1-6D4C-4857-8C76-FEB430F44726}" type="parTrans" cxnId="{A19CA530-07A6-4D61-92A9-44132811067F}">
      <dgm:prSet/>
      <dgm:spPr/>
      <dgm:t>
        <a:bodyPr/>
        <a:lstStyle/>
        <a:p>
          <a:endParaRPr lang="en-IN"/>
        </a:p>
      </dgm:t>
    </dgm:pt>
    <dgm:pt modelId="{EC06BEF6-5925-456C-B719-531C55304F48}" type="sibTrans" cxnId="{A19CA530-07A6-4D61-92A9-44132811067F}">
      <dgm:prSet/>
      <dgm:spPr/>
      <dgm:t>
        <a:bodyPr/>
        <a:lstStyle/>
        <a:p>
          <a:endParaRPr lang="en-IN"/>
        </a:p>
      </dgm:t>
    </dgm:pt>
    <dgm:pt modelId="{F6B2FE08-6BEC-42B6-A496-77B11B0048F6}">
      <dgm:prSet phldrT="[Text]" phldr="0"/>
      <dgm:spPr/>
      <dgm:t>
        <a:bodyPr/>
        <a:lstStyle/>
        <a:p>
          <a:r>
            <a:rPr lang="en-US" dirty="0"/>
            <a:t>Dynamic Portfolio Management</a:t>
          </a:r>
          <a:endParaRPr lang="en-IN" dirty="0"/>
        </a:p>
      </dgm:t>
    </dgm:pt>
    <dgm:pt modelId="{3F516DAA-5A27-497F-B7D4-B1BD8AAF93BE}" type="parTrans" cxnId="{1DB40940-F9E2-444D-996F-5CA63F59D019}">
      <dgm:prSet/>
      <dgm:spPr/>
      <dgm:t>
        <a:bodyPr/>
        <a:lstStyle/>
        <a:p>
          <a:endParaRPr lang="en-IN"/>
        </a:p>
      </dgm:t>
    </dgm:pt>
    <dgm:pt modelId="{8A9D603F-D01F-4B90-BA5A-ADBB885EC77C}" type="sibTrans" cxnId="{1DB40940-F9E2-444D-996F-5CA63F59D019}">
      <dgm:prSet/>
      <dgm:spPr/>
      <dgm:t>
        <a:bodyPr/>
        <a:lstStyle/>
        <a:p>
          <a:endParaRPr lang="en-IN"/>
        </a:p>
      </dgm:t>
    </dgm:pt>
    <dgm:pt modelId="{6E5D5EE9-021F-4D06-8937-901419F103DA}">
      <dgm:prSet phldrT="[Text]" phldr="0"/>
      <dgm:spPr/>
      <dgm:t>
        <a:bodyPr/>
        <a:lstStyle/>
        <a:p>
          <a:r>
            <a:rPr lang="en-US" dirty="0"/>
            <a:t>Proactive Participation</a:t>
          </a:r>
          <a:endParaRPr lang="en-IN" dirty="0"/>
        </a:p>
      </dgm:t>
    </dgm:pt>
    <dgm:pt modelId="{4C95E894-045E-41C0-9D23-3BB6D8D5EAC6}" type="parTrans" cxnId="{1BD7862C-8275-4A2F-AE90-B5FB4843C4D5}">
      <dgm:prSet/>
      <dgm:spPr/>
      <dgm:t>
        <a:bodyPr/>
        <a:lstStyle/>
        <a:p>
          <a:endParaRPr lang="en-IN"/>
        </a:p>
      </dgm:t>
    </dgm:pt>
    <dgm:pt modelId="{4E0F910D-E97D-4062-88F7-B0C77E45488E}" type="sibTrans" cxnId="{1BD7862C-8275-4A2F-AE90-B5FB4843C4D5}">
      <dgm:prSet/>
      <dgm:spPr/>
      <dgm:t>
        <a:bodyPr/>
        <a:lstStyle/>
        <a:p>
          <a:endParaRPr lang="en-IN"/>
        </a:p>
      </dgm:t>
    </dgm:pt>
    <dgm:pt modelId="{ED4B1FC2-3D2C-4170-BFF4-72B8871CFCCB}">
      <dgm:prSet phldrT="[Text]" phldr="0"/>
      <dgm:spPr/>
      <dgm:t>
        <a:bodyPr/>
        <a:lstStyle/>
        <a:p>
          <a:r>
            <a:rPr lang="en-US" b="1" dirty="0"/>
            <a:t>Sectoral Allocation</a:t>
          </a:r>
          <a:endParaRPr lang="en-IN" b="1" dirty="0"/>
        </a:p>
      </dgm:t>
    </dgm:pt>
    <dgm:pt modelId="{8CD27504-F872-43F6-9C75-199C144E4E94}" type="parTrans" cxnId="{22DC6B38-9755-419B-B3DF-E0F84A44FD62}">
      <dgm:prSet/>
      <dgm:spPr/>
      <dgm:t>
        <a:bodyPr/>
        <a:lstStyle/>
        <a:p>
          <a:endParaRPr lang="en-IN"/>
        </a:p>
      </dgm:t>
    </dgm:pt>
    <dgm:pt modelId="{D811A0E4-733B-4E7B-8D1D-AC33E66AFF63}" type="sibTrans" cxnId="{22DC6B38-9755-419B-B3DF-E0F84A44FD62}">
      <dgm:prSet/>
      <dgm:spPr/>
      <dgm:t>
        <a:bodyPr/>
        <a:lstStyle/>
        <a:p>
          <a:endParaRPr lang="en-IN"/>
        </a:p>
      </dgm:t>
    </dgm:pt>
    <dgm:pt modelId="{69064624-0A50-4861-876E-44BB0AD19DEC}">
      <dgm:prSet phldrT="[Text]" phldr="0"/>
      <dgm:spPr/>
      <dgm:t>
        <a:bodyPr/>
        <a:lstStyle/>
        <a:p>
          <a:r>
            <a:rPr lang="en-US" dirty="0"/>
            <a:t>Broad based sectoral allocation	</a:t>
          </a:r>
          <a:endParaRPr lang="en-IN" dirty="0"/>
        </a:p>
      </dgm:t>
    </dgm:pt>
    <dgm:pt modelId="{D35EAF00-BDA2-4A33-BDEB-3593034DBEB3}" type="parTrans" cxnId="{5855B2BF-574D-47D4-8E2A-53875F518DE9}">
      <dgm:prSet/>
      <dgm:spPr/>
      <dgm:t>
        <a:bodyPr/>
        <a:lstStyle/>
        <a:p>
          <a:endParaRPr lang="en-IN"/>
        </a:p>
      </dgm:t>
    </dgm:pt>
    <dgm:pt modelId="{1D767D7A-7F82-46C7-B046-1E00DB433E69}" type="sibTrans" cxnId="{5855B2BF-574D-47D4-8E2A-53875F518DE9}">
      <dgm:prSet/>
      <dgm:spPr/>
      <dgm:t>
        <a:bodyPr/>
        <a:lstStyle/>
        <a:p>
          <a:endParaRPr lang="en-IN"/>
        </a:p>
      </dgm:t>
    </dgm:pt>
    <dgm:pt modelId="{4550CF70-D54A-4130-9230-82020B7BD4A6}">
      <dgm:prSet phldrT="[Text]" phldr="0"/>
      <dgm:spPr/>
      <dgm:t>
        <a:bodyPr/>
        <a:lstStyle/>
        <a:p>
          <a:r>
            <a:rPr lang="en-US" dirty="0"/>
            <a:t>Sovereign debt to reduce risk</a:t>
          </a:r>
          <a:endParaRPr lang="en-IN" dirty="0"/>
        </a:p>
      </dgm:t>
    </dgm:pt>
    <dgm:pt modelId="{CE2EDC3D-3164-499B-9E0C-5FF49366D186}" type="parTrans" cxnId="{AF09AB9E-95BA-4C52-979A-198D0183F126}">
      <dgm:prSet/>
      <dgm:spPr/>
      <dgm:t>
        <a:bodyPr/>
        <a:lstStyle/>
        <a:p>
          <a:endParaRPr lang="en-IN"/>
        </a:p>
      </dgm:t>
    </dgm:pt>
    <dgm:pt modelId="{F14CE453-915F-45F7-AAF6-1B5563875806}" type="sibTrans" cxnId="{AF09AB9E-95BA-4C52-979A-198D0183F126}">
      <dgm:prSet/>
      <dgm:spPr/>
      <dgm:t>
        <a:bodyPr/>
        <a:lstStyle/>
        <a:p>
          <a:endParaRPr lang="en-IN"/>
        </a:p>
      </dgm:t>
    </dgm:pt>
    <dgm:pt modelId="{6EAC3321-0314-42E1-BC8C-ED90CD3C3C42}">
      <dgm:prSet phldrT="[Text]" phldr="0"/>
      <dgm:spPr/>
      <dgm:t>
        <a:bodyPr/>
        <a:lstStyle/>
        <a:p>
          <a:r>
            <a:rPr lang="en-US" b="1" dirty="0"/>
            <a:t>Investment Type</a:t>
          </a:r>
          <a:endParaRPr lang="en-IN" b="1" dirty="0"/>
        </a:p>
      </dgm:t>
    </dgm:pt>
    <dgm:pt modelId="{6FCA8288-7FA6-43CA-BD51-BFCE357AD049}" type="parTrans" cxnId="{49793EE7-15E5-4D0E-AACF-1CC13425A896}">
      <dgm:prSet/>
      <dgm:spPr/>
      <dgm:t>
        <a:bodyPr/>
        <a:lstStyle/>
        <a:p>
          <a:endParaRPr lang="en-IN"/>
        </a:p>
      </dgm:t>
    </dgm:pt>
    <dgm:pt modelId="{3B7B4439-26AB-40AA-8DA3-5F12D9A3568F}" type="sibTrans" cxnId="{49793EE7-15E5-4D0E-AACF-1CC13425A896}">
      <dgm:prSet/>
      <dgm:spPr/>
      <dgm:t>
        <a:bodyPr/>
        <a:lstStyle/>
        <a:p>
          <a:endParaRPr lang="en-IN"/>
        </a:p>
      </dgm:t>
    </dgm:pt>
    <dgm:pt modelId="{DBCBF286-CBAD-4073-84A7-E385B36A2FC3}">
      <dgm:prSet phldrT="[Text]" phldr="0"/>
      <dgm:spPr/>
      <dgm:t>
        <a:bodyPr/>
        <a:lstStyle/>
        <a:p>
          <a:r>
            <a:rPr lang="en-US" dirty="0"/>
            <a:t>Fixed income and debt securities only</a:t>
          </a:r>
          <a:endParaRPr lang="en-IN" dirty="0"/>
        </a:p>
      </dgm:t>
    </dgm:pt>
    <dgm:pt modelId="{F7AE98E2-0C64-4D11-A25E-2E28B7C61BBD}" type="parTrans" cxnId="{32EBEDFF-BA14-43AE-928E-5C161000C999}">
      <dgm:prSet/>
      <dgm:spPr/>
      <dgm:t>
        <a:bodyPr/>
        <a:lstStyle/>
        <a:p>
          <a:endParaRPr lang="en-IN"/>
        </a:p>
      </dgm:t>
    </dgm:pt>
    <dgm:pt modelId="{06CD9434-9F41-4A10-9599-E02E1ED69B85}" type="sibTrans" cxnId="{32EBEDFF-BA14-43AE-928E-5C161000C999}">
      <dgm:prSet/>
      <dgm:spPr/>
      <dgm:t>
        <a:bodyPr/>
        <a:lstStyle/>
        <a:p>
          <a:endParaRPr lang="en-IN"/>
        </a:p>
      </dgm:t>
    </dgm:pt>
    <dgm:pt modelId="{71D19C0C-AA82-44B9-B88A-3CF6276137DF}">
      <dgm:prSet phldrT="[Text]" phldr="0"/>
      <dgm:spPr/>
      <dgm:t>
        <a:bodyPr/>
        <a:lstStyle/>
        <a:p>
          <a:r>
            <a:rPr lang="en-US" dirty="0"/>
            <a:t>No equity exposure</a:t>
          </a:r>
          <a:endParaRPr lang="en-IN" dirty="0"/>
        </a:p>
      </dgm:t>
    </dgm:pt>
    <dgm:pt modelId="{A78D8927-CA96-4E6E-B85A-74FD93509CA2}" type="parTrans" cxnId="{65CCFB5B-3AB4-4E1D-A336-FE3C4D772B8B}">
      <dgm:prSet/>
      <dgm:spPr/>
      <dgm:t>
        <a:bodyPr/>
        <a:lstStyle/>
        <a:p>
          <a:endParaRPr lang="en-IN"/>
        </a:p>
      </dgm:t>
    </dgm:pt>
    <dgm:pt modelId="{B00A1CFB-CA2B-4742-801F-58B5795024D5}" type="sibTrans" cxnId="{65CCFB5B-3AB4-4E1D-A336-FE3C4D772B8B}">
      <dgm:prSet/>
      <dgm:spPr/>
      <dgm:t>
        <a:bodyPr/>
        <a:lstStyle/>
        <a:p>
          <a:endParaRPr lang="en-IN"/>
        </a:p>
      </dgm:t>
    </dgm:pt>
    <dgm:pt modelId="{36D57FF9-2BFF-440E-9DD1-1E2744C2CE28}">
      <dgm:prSet phldrT="[Text]" phldr="0"/>
      <dgm:spPr/>
      <dgm:t>
        <a:bodyPr/>
        <a:lstStyle/>
        <a:p>
          <a:r>
            <a:rPr lang="en-US" dirty="0"/>
            <a:t>3-5 years investment horizon</a:t>
          </a:r>
          <a:endParaRPr lang="en-IN" dirty="0"/>
        </a:p>
      </dgm:t>
    </dgm:pt>
    <dgm:pt modelId="{5EA58678-245E-4EE9-AF4F-5E53B64D0026}" type="parTrans" cxnId="{4F305682-60B7-43B0-A499-524D18181364}">
      <dgm:prSet/>
      <dgm:spPr/>
      <dgm:t>
        <a:bodyPr/>
        <a:lstStyle/>
        <a:p>
          <a:endParaRPr lang="en-IN"/>
        </a:p>
      </dgm:t>
    </dgm:pt>
    <dgm:pt modelId="{3CB50F33-53A2-41C0-96AE-E86A34423526}" type="sibTrans" cxnId="{4F305682-60B7-43B0-A499-524D18181364}">
      <dgm:prSet/>
      <dgm:spPr/>
      <dgm:t>
        <a:bodyPr/>
        <a:lstStyle/>
        <a:p>
          <a:endParaRPr lang="en-IN"/>
        </a:p>
      </dgm:t>
    </dgm:pt>
    <dgm:pt modelId="{D7BA034B-A25C-47D5-A417-55DD06D83F8B}">
      <dgm:prSet phldrT="[Text]" phldr="0"/>
      <dgm:spPr/>
      <dgm:t>
        <a:bodyPr/>
        <a:lstStyle/>
        <a:p>
          <a:r>
            <a:rPr lang="en-US" dirty="0"/>
            <a:t>Conservative Investment Approach</a:t>
          </a:r>
          <a:endParaRPr lang="en-IN" dirty="0"/>
        </a:p>
      </dgm:t>
    </dgm:pt>
    <dgm:pt modelId="{EBF8A5DC-1BE2-4331-B024-AECE1EE258ED}" type="parTrans" cxnId="{25BCCB78-8536-434D-AD4B-3C06246D2100}">
      <dgm:prSet/>
      <dgm:spPr/>
      <dgm:t>
        <a:bodyPr/>
        <a:lstStyle/>
        <a:p>
          <a:endParaRPr lang="en-IN"/>
        </a:p>
      </dgm:t>
    </dgm:pt>
    <dgm:pt modelId="{15A34721-B51E-4267-9723-9FD0AB3BF0A2}" type="sibTrans" cxnId="{25BCCB78-8536-434D-AD4B-3C06246D2100}">
      <dgm:prSet/>
      <dgm:spPr/>
      <dgm:t>
        <a:bodyPr/>
        <a:lstStyle/>
        <a:p>
          <a:endParaRPr lang="en-IN"/>
        </a:p>
      </dgm:t>
    </dgm:pt>
    <dgm:pt modelId="{1434C0F5-7AAA-4183-B078-DD0E57DBD3BF}">
      <dgm:prSet phldrT="[Text]" phldr="0"/>
      <dgm:spPr/>
      <dgm:t>
        <a:bodyPr/>
        <a:lstStyle/>
        <a:p>
          <a:r>
            <a:rPr lang="en-US" dirty="0"/>
            <a:t>No pre-determined allocation in sectors</a:t>
          </a:r>
          <a:endParaRPr lang="en-IN" dirty="0"/>
        </a:p>
      </dgm:t>
    </dgm:pt>
    <dgm:pt modelId="{7DFEA37D-7FF0-4F86-BC3E-9509BE47302F}" type="parTrans" cxnId="{4D94DB39-14AA-4838-9259-E68D1EC5FD5C}">
      <dgm:prSet/>
      <dgm:spPr/>
      <dgm:t>
        <a:bodyPr/>
        <a:lstStyle/>
        <a:p>
          <a:endParaRPr lang="en-IN"/>
        </a:p>
      </dgm:t>
    </dgm:pt>
    <dgm:pt modelId="{159A6A7E-15BF-471F-9792-84AE9AF08337}" type="sibTrans" cxnId="{4D94DB39-14AA-4838-9259-E68D1EC5FD5C}">
      <dgm:prSet/>
      <dgm:spPr/>
      <dgm:t>
        <a:bodyPr/>
        <a:lstStyle/>
        <a:p>
          <a:endParaRPr lang="en-IN"/>
        </a:p>
      </dgm:t>
    </dgm:pt>
    <dgm:pt modelId="{76A88582-FBFE-4399-80B2-4C4388E53280}">
      <dgm:prSet phldrT="[Text]" phldr="0"/>
      <dgm:spPr/>
      <dgm:t>
        <a:bodyPr/>
        <a:lstStyle/>
        <a:p>
          <a:r>
            <a:rPr lang="en-US" dirty="0"/>
            <a:t>Fund manager discretion allowed </a:t>
          </a:r>
          <a:endParaRPr lang="en-IN" dirty="0"/>
        </a:p>
      </dgm:t>
    </dgm:pt>
    <dgm:pt modelId="{70B873BC-9651-4A32-93F1-9574EDD923D2}" type="parTrans" cxnId="{CD9320DB-1940-47E7-A4E0-D390782184AA}">
      <dgm:prSet/>
      <dgm:spPr/>
      <dgm:t>
        <a:bodyPr/>
        <a:lstStyle/>
        <a:p>
          <a:endParaRPr lang="en-IN"/>
        </a:p>
      </dgm:t>
    </dgm:pt>
    <dgm:pt modelId="{45385095-F879-4EE4-A2DD-B73F8CED4927}" type="sibTrans" cxnId="{CD9320DB-1940-47E7-A4E0-D390782184AA}">
      <dgm:prSet/>
      <dgm:spPr/>
      <dgm:t>
        <a:bodyPr/>
        <a:lstStyle/>
        <a:p>
          <a:endParaRPr lang="en-IN"/>
        </a:p>
      </dgm:t>
    </dgm:pt>
    <dgm:pt modelId="{79D916BB-D974-4FE5-BF80-BED84BCD965C}">
      <dgm:prSet phldrT="[Text]" phldr="0"/>
      <dgm:spPr/>
      <dgm:t>
        <a:bodyPr/>
        <a:lstStyle/>
        <a:p>
          <a:r>
            <a:rPr lang="en-US" dirty="0"/>
            <a:t>Investments in high quality companies</a:t>
          </a:r>
          <a:endParaRPr lang="en-IN" dirty="0"/>
        </a:p>
      </dgm:t>
    </dgm:pt>
    <dgm:pt modelId="{7DA4326E-7E40-4A0A-B0C9-1B13E766C561}" type="parTrans" cxnId="{78372259-A2A3-4646-91F8-A64CBA3B51F0}">
      <dgm:prSet/>
      <dgm:spPr/>
      <dgm:t>
        <a:bodyPr/>
        <a:lstStyle/>
        <a:p>
          <a:endParaRPr lang="en-IN"/>
        </a:p>
      </dgm:t>
    </dgm:pt>
    <dgm:pt modelId="{28F7E4E3-C3E9-4FC8-BF04-B53499830A64}" type="sibTrans" cxnId="{78372259-A2A3-4646-91F8-A64CBA3B51F0}">
      <dgm:prSet/>
      <dgm:spPr/>
      <dgm:t>
        <a:bodyPr/>
        <a:lstStyle/>
        <a:p>
          <a:endParaRPr lang="en-IN"/>
        </a:p>
      </dgm:t>
    </dgm:pt>
    <dgm:pt modelId="{C82AA201-F975-4896-9BEE-2CCB9AD6DEFB}">
      <dgm:prSet phldrT="[Text]" phldr="0"/>
      <dgm:spPr/>
      <dgm:t>
        <a:bodyPr/>
        <a:lstStyle/>
        <a:p>
          <a:r>
            <a:rPr lang="en-US" dirty="0"/>
            <a:t>Investments in publicly traded securities</a:t>
          </a:r>
          <a:endParaRPr lang="en-IN" dirty="0"/>
        </a:p>
      </dgm:t>
    </dgm:pt>
    <dgm:pt modelId="{C6D589D7-4B39-4117-9758-8A11A8F578F6}" type="parTrans" cxnId="{1681CC15-D1FD-48C8-9C20-5018936D14D1}">
      <dgm:prSet/>
      <dgm:spPr/>
      <dgm:t>
        <a:bodyPr/>
        <a:lstStyle/>
        <a:p>
          <a:endParaRPr lang="en-IN"/>
        </a:p>
      </dgm:t>
    </dgm:pt>
    <dgm:pt modelId="{21E2A3FE-34F9-482B-B065-8CEF5F930284}" type="sibTrans" cxnId="{1681CC15-D1FD-48C8-9C20-5018936D14D1}">
      <dgm:prSet/>
      <dgm:spPr/>
      <dgm:t>
        <a:bodyPr/>
        <a:lstStyle/>
        <a:p>
          <a:endParaRPr lang="en-IN"/>
        </a:p>
      </dgm:t>
    </dgm:pt>
    <dgm:pt modelId="{421F86F3-28A2-421E-B3FA-D3F4292B85CC}" type="pres">
      <dgm:prSet presAssocID="{52918801-8523-4B41-B467-584F1DFFF87F}" presName="Name0" presStyleCnt="0">
        <dgm:presLayoutVars>
          <dgm:dir/>
          <dgm:animLvl val="lvl"/>
          <dgm:resizeHandles val="exact"/>
        </dgm:presLayoutVars>
      </dgm:prSet>
      <dgm:spPr/>
    </dgm:pt>
    <dgm:pt modelId="{D562A07C-BD5B-4662-9828-8C15EFD1E2DA}" type="pres">
      <dgm:prSet presAssocID="{3425C95C-C9E9-4EED-96E1-552BED1D71B5}" presName="composite" presStyleCnt="0"/>
      <dgm:spPr/>
    </dgm:pt>
    <dgm:pt modelId="{CDB9EEC9-4D59-4BCD-AEDA-752CD94C2A61}" type="pres">
      <dgm:prSet presAssocID="{3425C95C-C9E9-4EED-96E1-552BED1D71B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1CEDFB7-DE41-406A-8CE6-711AB276A384}" type="pres">
      <dgm:prSet presAssocID="{3425C95C-C9E9-4EED-96E1-552BED1D71B5}" presName="desTx" presStyleLbl="alignAccFollowNode1" presStyleIdx="0" presStyleCnt="3">
        <dgm:presLayoutVars>
          <dgm:bulletEnabled val="1"/>
        </dgm:presLayoutVars>
      </dgm:prSet>
      <dgm:spPr/>
    </dgm:pt>
    <dgm:pt modelId="{74EFE2B3-E732-4674-928E-537584D41D61}" type="pres">
      <dgm:prSet presAssocID="{EC06BEF6-5925-456C-B719-531C55304F48}" presName="space" presStyleCnt="0"/>
      <dgm:spPr/>
    </dgm:pt>
    <dgm:pt modelId="{9754A113-9329-40DE-A25C-92B65336345D}" type="pres">
      <dgm:prSet presAssocID="{ED4B1FC2-3D2C-4170-BFF4-72B8871CFCCB}" presName="composite" presStyleCnt="0"/>
      <dgm:spPr/>
    </dgm:pt>
    <dgm:pt modelId="{5111AFE1-98FF-47B6-A9DD-EAA876BE14BA}" type="pres">
      <dgm:prSet presAssocID="{ED4B1FC2-3D2C-4170-BFF4-72B8871CFCCB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ECCC504-8AE9-4401-96A3-3119BD580EF4}" type="pres">
      <dgm:prSet presAssocID="{ED4B1FC2-3D2C-4170-BFF4-72B8871CFCCB}" presName="desTx" presStyleLbl="alignAccFollowNode1" presStyleIdx="1" presStyleCnt="3">
        <dgm:presLayoutVars>
          <dgm:bulletEnabled val="1"/>
        </dgm:presLayoutVars>
      </dgm:prSet>
      <dgm:spPr/>
    </dgm:pt>
    <dgm:pt modelId="{42BF1A98-8C9D-4595-BD53-1F2172758861}" type="pres">
      <dgm:prSet presAssocID="{D811A0E4-733B-4E7B-8D1D-AC33E66AFF63}" presName="space" presStyleCnt="0"/>
      <dgm:spPr/>
    </dgm:pt>
    <dgm:pt modelId="{EB14ED3C-EDAC-426D-BCAE-A3643BB3651E}" type="pres">
      <dgm:prSet presAssocID="{6EAC3321-0314-42E1-BC8C-ED90CD3C3C42}" presName="composite" presStyleCnt="0"/>
      <dgm:spPr/>
    </dgm:pt>
    <dgm:pt modelId="{2676C386-1758-48F1-8EBF-A38929A49643}" type="pres">
      <dgm:prSet presAssocID="{6EAC3321-0314-42E1-BC8C-ED90CD3C3C42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D444E44E-B774-444F-8A3D-33EA8ECA4E43}" type="pres">
      <dgm:prSet presAssocID="{6EAC3321-0314-42E1-BC8C-ED90CD3C3C42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1681CC15-D1FD-48C8-9C20-5018936D14D1}" srcId="{6EAC3321-0314-42E1-BC8C-ED90CD3C3C42}" destId="{C82AA201-F975-4896-9BEE-2CCB9AD6DEFB}" srcOrd="3" destOrd="0" parTransId="{C6D589D7-4B39-4117-9758-8A11A8F578F6}" sibTransId="{21E2A3FE-34F9-482B-B065-8CEF5F930284}"/>
    <dgm:cxn modelId="{74594317-C9DA-4E9D-8FCC-BE05629B03A5}" type="presOf" srcId="{3425C95C-C9E9-4EED-96E1-552BED1D71B5}" destId="{CDB9EEC9-4D59-4BCD-AEDA-752CD94C2A61}" srcOrd="0" destOrd="0" presId="urn:microsoft.com/office/officeart/2005/8/layout/hList1"/>
    <dgm:cxn modelId="{1BD7862C-8275-4A2F-AE90-B5FB4843C4D5}" srcId="{3425C95C-C9E9-4EED-96E1-552BED1D71B5}" destId="{6E5D5EE9-021F-4D06-8937-901419F103DA}" srcOrd="1" destOrd="0" parTransId="{4C95E894-045E-41C0-9D23-3BB6D8D5EAC6}" sibTransId="{4E0F910D-E97D-4062-88F7-B0C77E45488E}"/>
    <dgm:cxn modelId="{3F7E4F2E-740A-4135-9684-CA00B68E2D26}" type="presOf" srcId="{DBCBF286-CBAD-4073-84A7-E385B36A2FC3}" destId="{D444E44E-B774-444F-8A3D-33EA8ECA4E43}" srcOrd="0" destOrd="0" presId="urn:microsoft.com/office/officeart/2005/8/layout/hList1"/>
    <dgm:cxn modelId="{A19CA530-07A6-4D61-92A9-44132811067F}" srcId="{52918801-8523-4B41-B467-584F1DFFF87F}" destId="{3425C95C-C9E9-4EED-96E1-552BED1D71B5}" srcOrd="0" destOrd="0" parTransId="{9FBAB1A1-6D4C-4857-8C76-FEB430F44726}" sibTransId="{EC06BEF6-5925-456C-B719-531C55304F48}"/>
    <dgm:cxn modelId="{22DC6B38-9755-419B-B3DF-E0F84A44FD62}" srcId="{52918801-8523-4B41-B467-584F1DFFF87F}" destId="{ED4B1FC2-3D2C-4170-BFF4-72B8871CFCCB}" srcOrd="1" destOrd="0" parTransId="{8CD27504-F872-43F6-9C75-199C144E4E94}" sibTransId="{D811A0E4-733B-4E7B-8D1D-AC33E66AFF63}"/>
    <dgm:cxn modelId="{4D94DB39-14AA-4838-9259-E68D1EC5FD5C}" srcId="{ED4B1FC2-3D2C-4170-BFF4-72B8871CFCCB}" destId="{1434C0F5-7AAA-4183-B078-DD0E57DBD3BF}" srcOrd="2" destOrd="0" parTransId="{7DFEA37D-7FF0-4F86-BC3E-9509BE47302F}" sibTransId="{159A6A7E-15BF-471F-9792-84AE9AF08337}"/>
    <dgm:cxn modelId="{1DB40940-F9E2-444D-996F-5CA63F59D019}" srcId="{3425C95C-C9E9-4EED-96E1-552BED1D71B5}" destId="{F6B2FE08-6BEC-42B6-A496-77B11B0048F6}" srcOrd="0" destOrd="0" parTransId="{3F516DAA-5A27-497F-B7D4-B1BD8AAF93BE}" sibTransId="{8A9D603F-D01F-4B90-BA5A-ADBB885EC77C}"/>
    <dgm:cxn modelId="{65CCFB5B-3AB4-4E1D-A336-FE3C4D772B8B}" srcId="{6EAC3321-0314-42E1-BC8C-ED90CD3C3C42}" destId="{71D19C0C-AA82-44B9-B88A-3CF6276137DF}" srcOrd="1" destOrd="0" parTransId="{A78D8927-CA96-4E6E-B85A-74FD93509CA2}" sibTransId="{B00A1CFB-CA2B-4742-801F-58B5795024D5}"/>
    <dgm:cxn modelId="{1884EC5F-359B-432F-A1DE-500C9CB06D08}" type="presOf" srcId="{F6B2FE08-6BEC-42B6-A496-77B11B0048F6}" destId="{E1CEDFB7-DE41-406A-8CE6-711AB276A384}" srcOrd="0" destOrd="0" presId="urn:microsoft.com/office/officeart/2005/8/layout/hList1"/>
    <dgm:cxn modelId="{9336D764-D8E1-498B-8570-EEFA28356C80}" type="presOf" srcId="{76A88582-FBFE-4399-80B2-4C4388E53280}" destId="{1ECCC504-8AE9-4401-96A3-3119BD580EF4}" srcOrd="0" destOrd="3" presId="urn:microsoft.com/office/officeart/2005/8/layout/hList1"/>
    <dgm:cxn modelId="{F8F5A745-AAE7-4C7F-9146-5B52A64467B6}" type="presOf" srcId="{36D57FF9-2BFF-440E-9DD1-1E2744C2CE28}" destId="{E1CEDFB7-DE41-406A-8CE6-711AB276A384}" srcOrd="0" destOrd="2" presId="urn:microsoft.com/office/officeart/2005/8/layout/hList1"/>
    <dgm:cxn modelId="{25BCCB78-8536-434D-AD4B-3C06246D2100}" srcId="{3425C95C-C9E9-4EED-96E1-552BED1D71B5}" destId="{D7BA034B-A25C-47D5-A417-55DD06D83F8B}" srcOrd="3" destOrd="0" parTransId="{EBF8A5DC-1BE2-4331-B024-AECE1EE258ED}" sibTransId="{15A34721-B51E-4267-9723-9FD0AB3BF0A2}"/>
    <dgm:cxn modelId="{78372259-A2A3-4646-91F8-A64CBA3B51F0}" srcId="{6EAC3321-0314-42E1-BC8C-ED90CD3C3C42}" destId="{79D916BB-D974-4FE5-BF80-BED84BCD965C}" srcOrd="2" destOrd="0" parTransId="{7DA4326E-7E40-4A0A-B0C9-1B13E766C561}" sibTransId="{28F7E4E3-C3E9-4FC8-BF04-B53499830A64}"/>
    <dgm:cxn modelId="{4F305682-60B7-43B0-A499-524D18181364}" srcId="{3425C95C-C9E9-4EED-96E1-552BED1D71B5}" destId="{36D57FF9-2BFF-440E-9DD1-1E2744C2CE28}" srcOrd="2" destOrd="0" parTransId="{5EA58678-245E-4EE9-AF4F-5E53B64D0026}" sibTransId="{3CB50F33-53A2-41C0-96AE-E86A34423526}"/>
    <dgm:cxn modelId="{96E99D84-DAB4-4A22-B573-A17542CFDA0C}" type="presOf" srcId="{D7BA034B-A25C-47D5-A417-55DD06D83F8B}" destId="{E1CEDFB7-DE41-406A-8CE6-711AB276A384}" srcOrd="0" destOrd="3" presId="urn:microsoft.com/office/officeart/2005/8/layout/hList1"/>
    <dgm:cxn modelId="{47A80885-D19F-4BCC-82C4-658A60AA9650}" type="presOf" srcId="{71D19C0C-AA82-44B9-B88A-3CF6276137DF}" destId="{D444E44E-B774-444F-8A3D-33EA8ECA4E43}" srcOrd="0" destOrd="1" presId="urn:microsoft.com/office/officeart/2005/8/layout/hList1"/>
    <dgm:cxn modelId="{3513CE93-8DD0-4B8C-A800-C66D36E4D7F6}" type="presOf" srcId="{6EAC3321-0314-42E1-BC8C-ED90CD3C3C42}" destId="{2676C386-1758-48F1-8EBF-A38929A49643}" srcOrd="0" destOrd="0" presId="urn:microsoft.com/office/officeart/2005/8/layout/hList1"/>
    <dgm:cxn modelId="{D6686A95-0346-48B8-802D-3DF13BA5AA55}" type="presOf" srcId="{52918801-8523-4B41-B467-584F1DFFF87F}" destId="{421F86F3-28A2-421E-B3FA-D3F4292B85CC}" srcOrd="0" destOrd="0" presId="urn:microsoft.com/office/officeart/2005/8/layout/hList1"/>
    <dgm:cxn modelId="{AF09AB9E-95BA-4C52-979A-198D0183F126}" srcId="{ED4B1FC2-3D2C-4170-BFF4-72B8871CFCCB}" destId="{4550CF70-D54A-4130-9230-82020B7BD4A6}" srcOrd="1" destOrd="0" parTransId="{CE2EDC3D-3164-499B-9E0C-5FF49366D186}" sibTransId="{F14CE453-915F-45F7-AAF6-1B5563875806}"/>
    <dgm:cxn modelId="{A48F1FB1-71DE-4C9A-96F4-D9BE4056FB7C}" type="presOf" srcId="{1434C0F5-7AAA-4183-B078-DD0E57DBD3BF}" destId="{1ECCC504-8AE9-4401-96A3-3119BD580EF4}" srcOrd="0" destOrd="2" presId="urn:microsoft.com/office/officeart/2005/8/layout/hList1"/>
    <dgm:cxn modelId="{5855B2BF-574D-47D4-8E2A-53875F518DE9}" srcId="{ED4B1FC2-3D2C-4170-BFF4-72B8871CFCCB}" destId="{69064624-0A50-4861-876E-44BB0AD19DEC}" srcOrd="0" destOrd="0" parTransId="{D35EAF00-BDA2-4A33-BDEB-3593034DBEB3}" sibTransId="{1D767D7A-7F82-46C7-B046-1E00DB433E69}"/>
    <dgm:cxn modelId="{6E3A14C9-9099-486A-BA9D-A1C346554389}" type="presOf" srcId="{79D916BB-D974-4FE5-BF80-BED84BCD965C}" destId="{D444E44E-B774-444F-8A3D-33EA8ECA4E43}" srcOrd="0" destOrd="2" presId="urn:microsoft.com/office/officeart/2005/8/layout/hList1"/>
    <dgm:cxn modelId="{4B6070D5-EE17-45CF-B76B-01BD232839A2}" type="presOf" srcId="{4550CF70-D54A-4130-9230-82020B7BD4A6}" destId="{1ECCC504-8AE9-4401-96A3-3119BD580EF4}" srcOrd="0" destOrd="1" presId="urn:microsoft.com/office/officeart/2005/8/layout/hList1"/>
    <dgm:cxn modelId="{CD9320DB-1940-47E7-A4E0-D390782184AA}" srcId="{ED4B1FC2-3D2C-4170-BFF4-72B8871CFCCB}" destId="{76A88582-FBFE-4399-80B2-4C4388E53280}" srcOrd="3" destOrd="0" parTransId="{70B873BC-9651-4A32-93F1-9574EDD923D2}" sibTransId="{45385095-F879-4EE4-A2DD-B73F8CED4927}"/>
    <dgm:cxn modelId="{A08DF0E5-59EA-4509-95D6-D97BB208CBBF}" type="presOf" srcId="{C82AA201-F975-4896-9BEE-2CCB9AD6DEFB}" destId="{D444E44E-B774-444F-8A3D-33EA8ECA4E43}" srcOrd="0" destOrd="3" presId="urn:microsoft.com/office/officeart/2005/8/layout/hList1"/>
    <dgm:cxn modelId="{49793EE7-15E5-4D0E-AACF-1CC13425A896}" srcId="{52918801-8523-4B41-B467-584F1DFFF87F}" destId="{6EAC3321-0314-42E1-BC8C-ED90CD3C3C42}" srcOrd="2" destOrd="0" parTransId="{6FCA8288-7FA6-43CA-BD51-BFCE357AD049}" sibTransId="{3B7B4439-26AB-40AA-8DA3-5F12D9A3568F}"/>
    <dgm:cxn modelId="{653FFBEC-1283-48B8-8D3F-10FDBC4C74E8}" type="presOf" srcId="{6E5D5EE9-021F-4D06-8937-901419F103DA}" destId="{E1CEDFB7-DE41-406A-8CE6-711AB276A384}" srcOrd="0" destOrd="1" presId="urn:microsoft.com/office/officeart/2005/8/layout/hList1"/>
    <dgm:cxn modelId="{458748EF-7655-433C-845F-FD313FC7B3F8}" type="presOf" srcId="{ED4B1FC2-3D2C-4170-BFF4-72B8871CFCCB}" destId="{5111AFE1-98FF-47B6-A9DD-EAA876BE14BA}" srcOrd="0" destOrd="0" presId="urn:microsoft.com/office/officeart/2005/8/layout/hList1"/>
    <dgm:cxn modelId="{361A91F6-B4EE-4121-8AE1-1D470F42E80F}" type="presOf" srcId="{69064624-0A50-4861-876E-44BB0AD19DEC}" destId="{1ECCC504-8AE9-4401-96A3-3119BD580EF4}" srcOrd="0" destOrd="0" presId="urn:microsoft.com/office/officeart/2005/8/layout/hList1"/>
    <dgm:cxn modelId="{32EBEDFF-BA14-43AE-928E-5C161000C999}" srcId="{6EAC3321-0314-42E1-BC8C-ED90CD3C3C42}" destId="{DBCBF286-CBAD-4073-84A7-E385B36A2FC3}" srcOrd="0" destOrd="0" parTransId="{F7AE98E2-0C64-4D11-A25E-2E28B7C61BBD}" sibTransId="{06CD9434-9F41-4A10-9599-E02E1ED69B85}"/>
    <dgm:cxn modelId="{367A6FD9-6F54-425A-BF96-E8362A2210AC}" type="presParOf" srcId="{421F86F3-28A2-421E-B3FA-D3F4292B85CC}" destId="{D562A07C-BD5B-4662-9828-8C15EFD1E2DA}" srcOrd="0" destOrd="0" presId="urn:microsoft.com/office/officeart/2005/8/layout/hList1"/>
    <dgm:cxn modelId="{E4E3BAC1-45C2-4A30-951F-60F617995A46}" type="presParOf" srcId="{D562A07C-BD5B-4662-9828-8C15EFD1E2DA}" destId="{CDB9EEC9-4D59-4BCD-AEDA-752CD94C2A61}" srcOrd="0" destOrd="0" presId="urn:microsoft.com/office/officeart/2005/8/layout/hList1"/>
    <dgm:cxn modelId="{17B988D1-6969-4BD2-AB87-514EEDB93F3A}" type="presParOf" srcId="{D562A07C-BD5B-4662-9828-8C15EFD1E2DA}" destId="{E1CEDFB7-DE41-406A-8CE6-711AB276A384}" srcOrd="1" destOrd="0" presId="urn:microsoft.com/office/officeart/2005/8/layout/hList1"/>
    <dgm:cxn modelId="{5EDE52C8-4520-41AE-8A91-19943B014174}" type="presParOf" srcId="{421F86F3-28A2-421E-B3FA-D3F4292B85CC}" destId="{74EFE2B3-E732-4674-928E-537584D41D61}" srcOrd="1" destOrd="0" presId="urn:microsoft.com/office/officeart/2005/8/layout/hList1"/>
    <dgm:cxn modelId="{B853F8C7-9BAE-453B-A6B0-8B59B96879B8}" type="presParOf" srcId="{421F86F3-28A2-421E-B3FA-D3F4292B85CC}" destId="{9754A113-9329-40DE-A25C-92B65336345D}" srcOrd="2" destOrd="0" presId="urn:microsoft.com/office/officeart/2005/8/layout/hList1"/>
    <dgm:cxn modelId="{9E6E09FB-9705-4368-B30C-53C746CDC7BD}" type="presParOf" srcId="{9754A113-9329-40DE-A25C-92B65336345D}" destId="{5111AFE1-98FF-47B6-A9DD-EAA876BE14BA}" srcOrd="0" destOrd="0" presId="urn:microsoft.com/office/officeart/2005/8/layout/hList1"/>
    <dgm:cxn modelId="{2B1372A6-F681-445B-869C-F1D833DFEA93}" type="presParOf" srcId="{9754A113-9329-40DE-A25C-92B65336345D}" destId="{1ECCC504-8AE9-4401-96A3-3119BD580EF4}" srcOrd="1" destOrd="0" presId="urn:microsoft.com/office/officeart/2005/8/layout/hList1"/>
    <dgm:cxn modelId="{A2E0944A-E751-462A-BC9F-8147E39DD64B}" type="presParOf" srcId="{421F86F3-28A2-421E-B3FA-D3F4292B85CC}" destId="{42BF1A98-8C9D-4595-BD53-1F2172758861}" srcOrd="3" destOrd="0" presId="urn:microsoft.com/office/officeart/2005/8/layout/hList1"/>
    <dgm:cxn modelId="{0DCBEF13-DAF8-4843-AC73-B9B099E97675}" type="presParOf" srcId="{421F86F3-28A2-421E-B3FA-D3F4292B85CC}" destId="{EB14ED3C-EDAC-426D-BCAE-A3643BB3651E}" srcOrd="4" destOrd="0" presId="urn:microsoft.com/office/officeart/2005/8/layout/hList1"/>
    <dgm:cxn modelId="{53F65F15-060A-41BC-8967-12806D3A9797}" type="presParOf" srcId="{EB14ED3C-EDAC-426D-BCAE-A3643BB3651E}" destId="{2676C386-1758-48F1-8EBF-A38929A49643}" srcOrd="0" destOrd="0" presId="urn:microsoft.com/office/officeart/2005/8/layout/hList1"/>
    <dgm:cxn modelId="{9B17C3EC-8DBF-4B4E-93AA-8E1D601F7C18}" type="presParOf" srcId="{EB14ED3C-EDAC-426D-BCAE-A3643BB3651E}" destId="{D444E44E-B774-444F-8A3D-33EA8ECA4E4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B9EEC9-4D59-4BCD-AEDA-752CD94C2A61}">
      <dsp:nvSpPr>
        <dsp:cNvPr id="0" name=""/>
        <dsp:cNvSpPr/>
      </dsp:nvSpPr>
      <dsp:spPr>
        <a:xfrm>
          <a:off x="3143" y="10409"/>
          <a:ext cx="3064668" cy="83848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Investment Philosophy</a:t>
          </a:r>
          <a:endParaRPr lang="en-IN" sz="2300" b="1" kern="1200" dirty="0"/>
        </a:p>
      </dsp:txBody>
      <dsp:txXfrm>
        <a:off x="3143" y="10409"/>
        <a:ext cx="3064668" cy="838483"/>
      </dsp:txXfrm>
    </dsp:sp>
    <dsp:sp modelId="{E1CEDFB7-DE41-406A-8CE6-711AB276A384}">
      <dsp:nvSpPr>
        <dsp:cNvPr id="0" name=""/>
        <dsp:cNvSpPr/>
      </dsp:nvSpPr>
      <dsp:spPr>
        <a:xfrm>
          <a:off x="3143" y="848892"/>
          <a:ext cx="3064668" cy="309361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Dynamic Portfolio Management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Proactive Participation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3-5 years investment horizon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Conservative Investment Approach</a:t>
          </a:r>
          <a:endParaRPr lang="en-IN" sz="2300" kern="1200" dirty="0"/>
        </a:p>
      </dsp:txBody>
      <dsp:txXfrm>
        <a:off x="3143" y="848892"/>
        <a:ext cx="3064668" cy="3093615"/>
      </dsp:txXfrm>
    </dsp:sp>
    <dsp:sp modelId="{5111AFE1-98FF-47B6-A9DD-EAA876BE14BA}">
      <dsp:nvSpPr>
        <dsp:cNvPr id="0" name=""/>
        <dsp:cNvSpPr/>
      </dsp:nvSpPr>
      <dsp:spPr>
        <a:xfrm>
          <a:off x="3496865" y="10409"/>
          <a:ext cx="3064668" cy="83848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Sectoral Allocation</a:t>
          </a:r>
          <a:endParaRPr lang="en-IN" sz="2300" b="1" kern="1200" dirty="0"/>
        </a:p>
      </dsp:txBody>
      <dsp:txXfrm>
        <a:off x="3496865" y="10409"/>
        <a:ext cx="3064668" cy="838483"/>
      </dsp:txXfrm>
    </dsp:sp>
    <dsp:sp modelId="{1ECCC504-8AE9-4401-96A3-3119BD580EF4}">
      <dsp:nvSpPr>
        <dsp:cNvPr id="0" name=""/>
        <dsp:cNvSpPr/>
      </dsp:nvSpPr>
      <dsp:spPr>
        <a:xfrm>
          <a:off x="3496865" y="848892"/>
          <a:ext cx="3064668" cy="309361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Broad based sectoral allocation	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Sovereign debt to reduce risk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No pre-determined allocation in sectors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Fund manager discretion allowed </a:t>
          </a:r>
          <a:endParaRPr lang="en-IN" sz="2300" kern="1200" dirty="0"/>
        </a:p>
      </dsp:txBody>
      <dsp:txXfrm>
        <a:off x="3496865" y="848892"/>
        <a:ext cx="3064668" cy="3093615"/>
      </dsp:txXfrm>
    </dsp:sp>
    <dsp:sp modelId="{2676C386-1758-48F1-8EBF-A38929A49643}">
      <dsp:nvSpPr>
        <dsp:cNvPr id="0" name=""/>
        <dsp:cNvSpPr/>
      </dsp:nvSpPr>
      <dsp:spPr>
        <a:xfrm>
          <a:off x="6990588" y="10409"/>
          <a:ext cx="3064668" cy="83848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Investment Type</a:t>
          </a:r>
          <a:endParaRPr lang="en-IN" sz="2300" b="1" kern="1200" dirty="0"/>
        </a:p>
      </dsp:txBody>
      <dsp:txXfrm>
        <a:off x="6990588" y="10409"/>
        <a:ext cx="3064668" cy="838483"/>
      </dsp:txXfrm>
    </dsp:sp>
    <dsp:sp modelId="{D444E44E-B774-444F-8A3D-33EA8ECA4E43}">
      <dsp:nvSpPr>
        <dsp:cNvPr id="0" name=""/>
        <dsp:cNvSpPr/>
      </dsp:nvSpPr>
      <dsp:spPr>
        <a:xfrm>
          <a:off x="6990588" y="848892"/>
          <a:ext cx="3064668" cy="309361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Fixed income and debt securities only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No equity exposure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Investments in high quality companies</a:t>
          </a:r>
          <a:endParaRPr lang="en-IN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Investments in publicly traded securities</a:t>
          </a:r>
          <a:endParaRPr lang="en-IN" sz="2300" kern="1200" dirty="0"/>
        </a:p>
      </dsp:txBody>
      <dsp:txXfrm>
        <a:off x="6990588" y="848892"/>
        <a:ext cx="3064668" cy="30936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5F651-DCB7-40F9-9485-46876D1BAAE9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DB2FF-8A28-4CDC-AA1E-1C84D087EA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770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DB2FF-8A28-4CDC-AA1E-1C84D087EA8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064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803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421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54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4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838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860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19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39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5131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87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403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B14BA80-378C-469D-9CE4-FF89ECF2D4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305A1DB-4E92-4DE9-A540-D8036CA8B02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159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E6A0B-A1AE-CEA6-4E78-8D00EA2D60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PORTFOLIO</a:t>
            </a:r>
            <a:br>
              <a:rPr lang="en-US" dirty="0"/>
            </a:br>
            <a:r>
              <a:rPr lang="en-US" dirty="0"/>
              <a:t>PERFORMACE</a:t>
            </a:r>
            <a:br>
              <a:rPr lang="en-US" dirty="0"/>
            </a:br>
            <a:r>
              <a:rPr lang="en-US" dirty="0"/>
              <a:t>APPRAISAL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5DDB0-36CC-0F3A-E11B-226DC75D81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quarterly review meeting – q3 2017 vs q4 2017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562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72E3-1B44-7F13-2569-38EB134DB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87EA6-52AA-F600-052A-4932DC7A0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Alpha is doing cautiously well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/>
              <a:t> Alpha’s </a:t>
            </a:r>
            <a:r>
              <a:rPr lang="en-US" dirty="0"/>
              <a:t>portfolio has been growing in size along with performance improvement across all the sectors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Roads sector has been an out-performer amongst all the other sectors in Alpha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However, there are some risky investments in the portfolio which require close monitoring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724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ED1AE-8DC6-C64A-6FE0-D72A0EFB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is a long term, actively managed and risk-averse investment company</a:t>
            </a:r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74E950F-2EE8-F30F-088E-4A0BFEF761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6354860"/>
              </p:ext>
            </p:extLst>
          </p:nvPr>
        </p:nvGraphicFramePr>
        <p:xfrm>
          <a:off x="1097280" y="2185416"/>
          <a:ext cx="10058400" cy="3952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1202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C05555-4EB8-50E8-9A5D-3AAAA505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is a growing investment fund across all sectors</a:t>
            </a: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7D0CB9F-4737-E2B9-3A1F-CF8B9179920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69749582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EAFC7-F12D-B548-D82D-1389D80DF7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Alpha’s portfolio comprised 4 major sectoral allocation namely Schools, Roads, Sovereign debt and Commercial Real Estate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Roads are the biggest sector in the overall portfolio with USD 135mn in investment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Commercial Real Estate is the second biggest sector with USD 125mn in investment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Schools and Sovereign debt are relatively smaller in size with USD 105mn and USD 100mn in investment in Q4 2017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234153-7440-6938-125F-FE957934EF6B}"/>
              </a:ext>
            </a:extLst>
          </p:cNvPr>
          <p:cNvSpPr txBox="1"/>
          <p:nvPr/>
        </p:nvSpPr>
        <p:spPr>
          <a:xfrm>
            <a:off x="2651760" y="2706624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395</a:t>
            </a:r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3B1BB-2DE3-1462-BE35-F03939FD05F3}"/>
              </a:ext>
            </a:extLst>
          </p:cNvPr>
          <p:cNvSpPr txBox="1"/>
          <p:nvPr/>
        </p:nvSpPr>
        <p:spPr>
          <a:xfrm>
            <a:off x="4654296" y="2309860"/>
            <a:ext cx="4203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465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97867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F8F838-8939-7CAE-D32A-3A326E77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sectors have shown a performance improvement in Q4 vs Q3 2017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A11C268-49CF-3911-4FC4-D719CA93DDC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05010846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6A5900-3D48-AE68-D6AB-131FA4ED4E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interest yields generally increased across   all sectors between Q3 2017 and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Roads continue to be the highest interest earning asset at 6.5% p.a.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Schools are the second highest earning asset   class in the portfolio at 4.4%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Commercial Real Estate earn a decent 3.4%  p.a. as investment yield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Sovereign debt being the safest investment  earns the lowest interest yield 2.5% p.a. in Q4 2017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283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C9A46-FF97-9A2D-6004-27AD19BF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 is most bullish on the Roads sector</a:t>
            </a:r>
            <a:endParaRPr lang="en-IN" dirty="0"/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6E7DB19B-B173-6659-2E41-45CA56477F6E}"/>
                  </a:ext>
                </a:extLst>
              </p:cNvPr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1964360407"/>
                  </p:ext>
                </p:extLst>
              </p:nvPr>
            </p:nvGraphicFramePr>
            <p:xfrm>
              <a:off x="1096963" y="1846263"/>
              <a:ext cx="4938712" cy="402272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ontent Placeholder 6">
                <a:extLst>
                  <a:ext uri="{FF2B5EF4-FFF2-40B4-BE49-F238E27FC236}">
                    <a16:creationId xmlns:a16="http://schemas.microsoft.com/office/drawing/2014/main" id="{6E7DB19B-B173-6659-2E41-45CA56477F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6963" y="1846263"/>
                <a:ext cx="4938712" cy="4022725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055C6-60A1-FB7D-9119-6B94EFA9F7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portfolio has increased 70mn USD between Q3 2017 and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investments in the Road sector has been the highest amongst all sectors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Schools sector has also seen a modest increase in investment of 20mn USD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Investment in Sovereign debt has also increased by 10mn USD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Real Estate has seen the lowest increase in investment in Q4 2017 at 5mn USD only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32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BE0BC-7E2B-452D-B784-E4B8D74A5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Roads sector is a lucrative investment from a risk-return trade-off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A47422D-4BAF-BF21-7000-F94A693F042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95106398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5B128-42CC-2AAB-2CB8-2CAF74B4B6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Overall, the portfolio exhibits a trade-off between risk and return profile at the individual asset class loans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Road's sector has the highest return while the risk is relatively lower compared to Schools and CRE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Sovereign debt is the lowest return generating asset class with the lowest risk profile as well in the overall portfolio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CRE and Schools have moderate returns but higher risk profile in the overall portfolio</a:t>
            </a:r>
          </a:p>
        </p:txBody>
      </p:sp>
    </p:spTree>
    <p:extLst>
      <p:ext uri="{BB962C8B-B14F-4D97-AF65-F5344CB8AC3E}">
        <p14:creationId xmlns:p14="http://schemas.microsoft.com/office/powerpoint/2010/main" val="39607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B1E28-BB99-B852-83DD-29E38B18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market is bullish on the potential of the Roads sector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CCECB0B-DDDC-4274-44E9-0EABCCB5BDE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44352910"/>
              </p:ext>
            </p:extLst>
          </p:nvPr>
        </p:nvGraphicFramePr>
        <p:xfrm>
          <a:off x="1096963" y="1846263"/>
          <a:ext cx="49387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FBB9E6-43DA-0227-052C-ED94846BA8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In general, the portfolio price is below the book value of investments except for Sovereign debt in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There has been a general increase in the price of all sectors in the portfolio from Q3 2017 to Q4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Roads sector has shown the maximum improvement in the price of 10% in Q4 2017 vs Q3 2017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Sovereign debt has increased 7% point between the last 2 quarters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 Commercial real estate and Schools have shown a very small increase in price in Q4 2017</a:t>
            </a:r>
          </a:p>
        </p:txBody>
      </p:sp>
    </p:spTree>
    <p:extLst>
      <p:ext uri="{BB962C8B-B14F-4D97-AF65-F5344CB8AC3E}">
        <p14:creationId xmlns:p14="http://schemas.microsoft.com/office/powerpoint/2010/main" val="1138705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0E32-28CF-B56E-1490-CBD41F0CB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However, there are high risk investments that Alpha should monitor closely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9D9F5F7-A0BE-66EB-76FF-E013D48E4E1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82909204"/>
              </p:ext>
            </p:extLst>
          </p:nvPr>
        </p:nvGraphicFramePr>
        <p:xfrm>
          <a:off x="1096963" y="1846263"/>
          <a:ext cx="4938712" cy="2531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1A9CDF2A-68E5-8434-6BFF-B4C97EC031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9286491"/>
              </p:ext>
            </p:extLst>
          </p:nvPr>
        </p:nvGraphicFramePr>
        <p:xfrm>
          <a:off x="6218238" y="1846263"/>
          <a:ext cx="4937125" cy="2531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A30D1B2-4DD0-591A-2548-B07DD8AD16DE}"/>
              </a:ext>
            </a:extLst>
          </p:cNvPr>
          <p:cNvSpPr txBox="1"/>
          <p:nvPr/>
        </p:nvSpPr>
        <p:spPr>
          <a:xfrm>
            <a:off x="1570182" y="4673600"/>
            <a:ext cx="92097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There has been considerable change in the risk quality of the portfolio in Q4 2017 vs Q3 2017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low risk investments have increased from 35% in Q3 2017 to 46% in Q4 2017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medium risk investments have increased from 23% in Q3 2017 to 30% in Q4 2017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high risk investments have decreased from 42% in Q3 2017 to 24% in Q4 2017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985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45F9B-865D-2F8C-BEE7-295A650B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Buildings and Saffron Buildings require close monitoring from credit Risk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88A98CA-F50D-FDE3-5FC8-A36ABF6A4A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575509"/>
              </p:ext>
            </p:extLst>
          </p:nvPr>
        </p:nvGraphicFramePr>
        <p:xfrm>
          <a:off x="1096963" y="1846263"/>
          <a:ext cx="10058399" cy="4078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8965">
                  <a:extLst>
                    <a:ext uri="{9D8B030D-6E8A-4147-A177-3AD203B41FA5}">
                      <a16:colId xmlns:a16="http://schemas.microsoft.com/office/drawing/2014/main" val="3497650889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730533095"/>
                    </a:ext>
                  </a:extLst>
                </a:gridCol>
                <a:gridCol w="1639718">
                  <a:extLst>
                    <a:ext uri="{9D8B030D-6E8A-4147-A177-3AD203B41FA5}">
                      <a16:colId xmlns:a16="http://schemas.microsoft.com/office/drawing/2014/main" val="992857660"/>
                    </a:ext>
                  </a:extLst>
                </a:gridCol>
                <a:gridCol w="1639718">
                  <a:extLst>
                    <a:ext uri="{9D8B030D-6E8A-4147-A177-3AD203B41FA5}">
                      <a16:colId xmlns:a16="http://schemas.microsoft.com/office/drawing/2014/main" val="1468732794"/>
                    </a:ext>
                  </a:extLst>
                </a:gridCol>
                <a:gridCol w="1639718">
                  <a:extLst>
                    <a:ext uri="{9D8B030D-6E8A-4147-A177-3AD203B41FA5}">
                      <a16:colId xmlns:a16="http://schemas.microsoft.com/office/drawing/2014/main" val="13222539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High Risk Loan Investments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Asset class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 of portfolio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Book value of investment (USD mn)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Yield (%)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7047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OS Buildings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Real Estate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81911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Saffron Buildings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Real Estate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2744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CLM Roads - II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4809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Xie John Road Association - AA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583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MV Roads - Phase 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Roads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5955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DS Schools Association - I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Schools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5589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CVNT Buildings - Part 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Real Estate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3259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CVNT Buildings - Part 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Commercial Real Estate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20090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4311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2322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432</TotalTime>
  <Words>847</Words>
  <Application>Microsoft Office PowerPoint</Application>
  <PresentationFormat>Widescreen</PresentationFormat>
  <Paragraphs>122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Wingdings</vt:lpstr>
      <vt:lpstr>Retrospect</vt:lpstr>
      <vt:lpstr>PORTFOLIO PERFORMACE APPRAISAL</vt:lpstr>
      <vt:lpstr>Executive summary</vt:lpstr>
      <vt:lpstr>Alpha is a long term, actively managed and risk-averse investment company</vt:lpstr>
      <vt:lpstr>Alpha is a growing investment fund across all sectors</vt:lpstr>
      <vt:lpstr>All sectors have shown a performance improvement in Q4 vs Q3 2017</vt:lpstr>
      <vt:lpstr>Alpha is most bullish on the Roads sector</vt:lpstr>
      <vt:lpstr>The Roads sector is a lucrative investment from a risk-return trade-off</vt:lpstr>
      <vt:lpstr>The market is bullish on the potential of the Roads sector</vt:lpstr>
      <vt:lpstr>However, there are high risk investments that Alpha should monitor closely</vt:lpstr>
      <vt:lpstr>OS Buildings and Saffron Buildings require close monitoring from credit Risk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Leela Prasad</dc:creator>
  <cp:lastModifiedBy>Leela Prasad</cp:lastModifiedBy>
  <cp:revision>34</cp:revision>
  <dcterms:created xsi:type="dcterms:W3CDTF">2026-06-19T15:00:44Z</dcterms:created>
  <dcterms:modified xsi:type="dcterms:W3CDTF">2026-06-24T15:50:14Z</dcterms:modified>
</cp:coreProperties>
</file>